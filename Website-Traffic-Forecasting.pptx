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5364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</p:sldIdLst>
  <p:sldSz cx="14630400" cy="8229600"/>
  <p:notesSz cx="8229600" cy="14630400"/>
  <p:embeddedFontLst>
    <p:embeddedFont>
      <p:font typeface="David" panose="020E0502060401010101" pitchFamily="34" charset="-79"/>
      <p:regular r:id="rId16"/>
      <p:bold r:id="rId17"/>
    </p:embeddedFont>
    <p:embeddedFont>
      <p:font typeface="Funnel Display" pitchFamily="2" charset="0"/>
      <p:regular r:id="rId18"/>
    </p:embeddedFont>
    <p:embeddedFont>
      <p:font typeface="Funnel Sans" pitchFamily="2" charset="0"/>
      <p:regular r:id="rId19"/>
      <p:italic r:id="rId20"/>
    </p:embeddedFont>
    <p:embeddedFont>
      <p:font typeface="Garamond" panose="02020404030301010803" pitchFamily="18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303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DDAC7-BCC0-FDFF-E7CF-7D192AA1B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C8B345-0D20-2BE1-3AC0-3DB3598A9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D4563D-FFB2-B0C1-D883-3A1B340BC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EDEB6-0001-36F9-37A3-EDF04C0584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522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396AF-185D-79C8-0215-23AAE1D2C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95A10-F628-D45C-F07E-61D67B89A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B83F0C-B578-254C-AD83-33929073E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05343-75E6-E5EF-9153-FE71A779C6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67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0321" y="0"/>
            <a:ext cx="14677392" cy="8227457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0878" y="2245358"/>
            <a:ext cx="8178803" cy="1818640"/>
          </a:xfrm>
        </p:spPr>
        <p:txBody>
          <a:bodyPr anchor="b">
            <a:noAutofit/>
          </a:bodyPr>
          <a:lstStyle>
            <a:lvl1pPr algn="ctr">
              <a:defRPr sz="648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0878" y="4389117"/>
            <a:ext cx="8178803" cy="1584962"/>
          </a:xfrm>
        </p:spPr>
        <p:txBody>
          <a:bodyPr anchor="t">
            <a:normAutofit/>
          </a:bodyPr>
          <a:lstStyle>
            <a:lvl1pPr marL="0" indent="0" algn="ctr">
              <a:buNone/>
              <a:defRPr sz="2520">
                <a:solidFill>
                  <a:schemeClr val="tx1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579879" y="6045196"/>
            <a:ext cx="1076960" cy="335280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12/15/25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30877" y="6045196"/>
            <a:ext cx="6257562" cy="335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48281" y="6045196"/>
            <a:ext cx="661400" cy="33528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3230879" y="4226557"/>
            <a:ext cx="81788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1121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5874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8083" y="2103127"/>
            <a:ext cx="9790426" cy="2187017"/>
          </a:xfrm>
        </p:spPr>
        <p:txBody>
          <a:bodyPr anchor="b">
            <a:normAutofit/>
          </a:bodyPr>
          <a:lstStyle>
            <a:lvl1pPr algn="ctr">
              <a:defRPr sz="528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8080" y="4615262"/>
            <a:ext cx="9790428" cy="1145456"/>
          </a:xfrm>
        </p:spPr>
        <p:txBody>
          <a:bodyPr anchor="t">
            <a:normAutofit/>
          </a:bodyPr>
          <a:lstStyle>
            <a:lvl1pPr marL="0" indent="0" algn="ctr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415268" y="4452702"/>
            <a:ext cx="979605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61769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58137" y="3072384"/>
            <a:ext cx="5661965" cy="397215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17613" y="3072384"/>
            <a:ext cx="5661965" cy="397215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95235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3190240"/>
            <a:ext cx="5661965" cy="691514"/>
          </a:xfrm>
        </p:spPr>
        <p:txBody>
          <a:bodyPr anchor="b">
            <a:noAutofit/>
          </a:bodyPr>
          <a:lstStyle>
            <a:lvl1pPr marL="0" indent="0">
              <a:spcBef>
                <a:spcPts val="806"/>
              </a:spcBef>
              <a:spcAft>
                <a:spcPts val="720"/>
              </a:spcAft>
              <a:buNone/>
              <a:defRPr sz="336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54480" y="3891915"/>
            <a:ext cx="5661965" cy="3159126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16804" y="3190240"/>
            <a:ext cx="5661965" cy="691514"/>
          </a:xfrm>
        </p:spPr>
        <p:txBody>
          <a:bodyPr anchor="b">
            <a:noAutofit/>
          </a:bodyPr>
          <a:lstStyle>
            <a:lvl1pPr marL="0" indent="0">
              <a:spcBef>
                <a:spcPts val="806"/>
              </a:spcBef>
              <a:spcAft>
                <a:spcPts val="720"/>
              </a:spcAft>
              <a:buNone/>
              <a:defRPr sz="336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16804" y="3891915"/>
            <a:ext cx="5661965" cy="3159126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57666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03199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23839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2574" y="1666241"/>
            <a:ext cx="4462146" cy="1645920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2402" y="1178558"/>
            <a:ext cx="6563359" cy="5872482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2574" y="3637278"/>
            <a:ext cx="4462146" cy="2926085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675403" y="3495040"/>
            <a:ext cx="42173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50652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79" y="2260598"/>
            <a:ext cx="7490179" cy="1645920"/>
          </a:xfrm>
        </p:spPr>
        <p:txBody>
          <a:bodyPr anchor="b">
            <a:normAutofit/>
          </a:bodyPr>
          <a:lstStyle>
            <a:lvl1pPr algn="ctr">
              <a:defRPr sz="336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3798" y="1249680"/>
            <a:ext cx="3676016" cy="573024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79" y="3906518"/>
            <a:ext cx="7490179" cy="2194560"/>
          </a:xfrm>
        </p:spPr>
        <p:txBody>
          <a:bodyPr anchor="t">
            <a:normAutofit/>
          </a:bodyPr>
          <a:lstStyle>
            <a:lvl1pPr marL="0" indent="0" algn="ctr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693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1" y="5778498"/>
            <a:ext cx="11531599" cy="680086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49713" y="1249679"/>
            <a:ext cx="12127166" cy="4003043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81" y="6458584"/>
            <a:ext cx="11531599" cy="592454"/>
          </a:xfrm>
        </p:spPr>
        <p:txBody>
          <a:bodyPr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92255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642" y="1178558"/>
            <a:ext cx="11511278" cy="3545842"/>
          </a:xfrm>
        </p:spPr>
        <p:txBody>
          <a:bodyPr anchor="ctr">
            <a:normAutofit/>
          </a:bodyPr>
          <a:lstStyle>
            <a:lvl1pPr algn="ctr">
              <a:defRPr sz="384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4642" y="5212080"/>
            <a:ext cx="11511278" cy="18389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675403" y="496823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0373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1178558"/>
            <a:ext cx="11155678" cy="2844802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09775" y="4023360"/>
            <a:ext cx="10607042" cy="70104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400"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212080"/>
            <a:ext cx="11531599" cy="18389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34416" y="105595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20320" y="339344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675403" y="496823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69929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2" y="3970297"/>
            <a:ext cx="11531602" cy="1762560"/>
          </a:xfrm>
        </p:spPr>
        <p:txBody>
          <a:bodyPr anchor="b">
            <a:normAutofit/>
          </a:bodyPr>
          <a:lstStyle>
            <a:lvl1pPr algn="l">
              <a:defRPr sz="384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732857"/>
            <a:ext cx="11531602" cy="103248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19924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1178558"/>
            <a:ext cx="11155678" cy="2692402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554481" y="4367174"/>
            <a:ext cx="11531602" cy="1064362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435600"/>
            <a:ext cx="11531602" cy="161544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34416" y="105595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20320" y="311911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675403" y="4114800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30706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1" y="1178558"/>
            <a:ext cx="11531599" cy="269240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554481" y="4356201"/>
            <a:ext cx="11531602" cy="100949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3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5364480"/>
            <a:ext cx="11531604" cy="168656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675403" y="4114800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11628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23256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99228" y="1178558"/>
            <a:ext cx="2269074" cy="587248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54478" y="1178558"/>
            <a:ext cx="8919630" cy="5872481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636668" y="1188720"/>
            <a:ext cx="0" cy="585216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7885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5280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05745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51272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11412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11480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2975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6659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5647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3811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5314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8883" y="0"/>
            <a:ext cx="14675954" cy="8227457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4483" y="1178559"/>
            <a:ext cx="11521435" cy="156464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3068319"/>
            <a:ext cx="11521435" cy="39827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13001" y="7162800"/>
            <a:ext cx="1920240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764DE79-268F-4C1A-8933-263129D2AF90}" type="datetimeFigureOut">
              <a:rPr lang="en-US" smtClean="0"/>
              <a:t>12/15/25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54481" y="7162800"/>
            <a:ext cx="8767080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24682" y="7162800"/>
            <a:ext cx="651236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308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65" r:id="rId1"/>
    <p:sldLayoutId id="2147485366" r:id="rId2"/>
    <p:sldLayoutId id="2147485367" r:id="rId3"/>
    <p:sldLayoutId id="2147485368" r:id="rId4"/>
    <p:sldLayoutId id="2147485369" r:id="rId5"/>
    <p:sldLayoutId id="2147485370" r:id="rId6"/>
    <p:sldLayoutId id="2147485371" r:id="rId7"/>
    <p:sldLayoutId id="2147485372" r:id="rId8"/>
    <p:sldLayoutId id="2147485373" r:id="rId9"/>
    <p:sldLayoutId id="2147485374" r:id="rId10"/>
    <p:sldLayoutId id="2147485375" r:id="rId11"/>
    <p:sldLayoutId id="2147485376" r:id="rId12"/>
    <p:sldLayoutId id="2147485377" r:id="rId13"/>
    <p:sldLayoutId id="2147485378" r:id="rId14"/>
    <p:sldLayoutId id="2147485379" r:id="rId15"/>
    <p:sldLayoutId id="2147485380" r:id="rId16"/>
    <p:sldLayoutId id="2147485381" r:id="rId17"/>
    <p:sldLayoutId id="2147485382" r:id="rId18"/>
    <p:sldLayoutId id="2147485383" r:id="rId19"/>
    <p:sldLayoutId id="2147485384" r:id="rId20"/>
    <p:sldLayoutId id="2147485385" r:id="rId21"/>
    <p:sldLayoutId id="2147485386" r:id="rId22"/>
    <p:sldLayoutId id="2147485387" r:id="rId23"/>
    <p:sldLayoutId id="2147485388" r:id="rId24"/>
    <p:sldLayoutId id="2147485389" r:id="rId25"/>
    <p:sldLayoutId id="2147485390" r:id="rId26"/>
    <p:sldLayoutId id="2147485391" r:id="rId27"/>
  </p:sldLayoutIdLst>
  <p:hf sldNum="0" hdr="0" ftr="0" dt="0"/>
  <p:txStyles>
    <p:titleStyle>
      <a:lvl1pPr algn="ctr" defTabSz="548640" rtl="0" eaLnBrk="1" latinLnBrk="0" hangingPunct="1">
        <a:spcBef>
          <a:spcPct val="0"/>
        </a:spcBef>
        <a:buNone/>
        <a:defRPr sz="528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8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44018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16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85166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92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40030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50123" y="3206200"/>
            <a:ext cx="94261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5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Website Traffic Forecasting</a:t>
            </a:r>
            <a:endParaRPr lang="en-US" sz="5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460314-570C-5F37-D235-CB5D0F95D2FC}"/>
              </a:ext>
            </a:extLst>
          </p:cNvPr>
          <p:cNvSpPr txBox="1"/>
          <p:nvPr/>
        </p:nvSpPr>
        <p:spPr>
          <a:xfrm>
            <a:off x="4817802" y="4055165"/>
            <a:ext cx="53152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Machine Learning Project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5494C2-56C6-C8A6-F14E-9F873A38A1DD}"/>
              </a:ext>
            </a:extLst>
          </p:cNvPr>
          <p:cNvSpPr txBox="1"/>
          <p:nvPr/>
        </p:nvSpPr>
        <p:spPr>
          <a:xfrm>
            <a:off x="11595652" y="6732105"/>
            <a:ext cx="22579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DHAYANANTH J</a:t>
            </a:r>
          </a:p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BIA- DS &amp;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05133" y="879747"/>
            <a:ext cx="11022330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Project Overview: Predicting Digital Footprints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837724" y="2199475"/>
            <a:ext cx="12533719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&gt;</a:t>
            </a: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Our objective was to forecast daily website traffic with high accuracy, dissecting various visit types to provide granular insights.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448" y="3287039"/>
            <a:ext cx="323136" cy="3231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7811" y="3280431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Visit Types Analyzed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537811" y="3812640"/>
            <a:ext cx="2946678" cy="1722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Unique, First-Time, and Returning visitors were individually tracked and analyzed to understand distinct user behaviors.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59698" y="3260535"/>
            <a:ext cx="323136" cy="3231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79061" y="3253927"/>
            <a:ext cx="2946678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Hybrid Modelling Approach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679061" y="4102961"/>
            <a:ext cx="2946678" cy="2067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 employed a robust hybrid strategy, combining traditional Time Series methods with advanced Machine Learning techniques for comprehensive forecasting.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9321" y="3247616"/>
            <a:ext cx="323136" cy="32313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168684" y="3241008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Business Impact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10168684" y="3989441"/>
            <a:ext cx="3528593" cy="229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Accurate traffic predictions enable better resource allocation, strategic planning, and data-driven decision-making across the organization.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72003" y="860822"/>
            <a:ext cx="7309485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Data Preprocessing: Refining Raw Data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1318914" y="1484367"/>
            <a:ext cx="12860466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Before any analysis or modeling could begin, the raw data underwent meticulous preprocessing to ensure accuracy and consistency.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614839" y="2254016"/>
            <a:ext cx="167521" cy="966549"/>
          </a:xfrm>
          <a:prstGeom prst="roundRect">
            <a:avLst>
              <a:gd name="adj" fmla="val 42011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7318" y="2144002"/>
            <a:ext cx="502682" cy="502682"/>
          </a:xfrm>
          <a:prstGeom prst="roundRect">
            <a:avLst>
              <a:gd name="adj" fmla="val 90952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2929" y="2269613"/>
            <a:ext cx="251341" cy="2513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17521" y="2170196"/>
            <a:ext cx="2568893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Date Conversion &amp; Indexing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2117520" y="2517144"/>
            <a:ext cx="8113157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date column was converted into a proper datetime format, and the data was chronologically sorted, with the date set as the primary index for time-series analysis.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2648059" y="3573286"/>
            <a:ext cx="167521" cy="966549"/>
          </a:xfrm>
          <a:prstGeom prst="roundRect">
            <a:avLst>
              <a:gd name="adj" fmla="val 42011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480538" y="3463272"/>
            <a:ext cx="502682" cy="502682"/>
          </a:xfrm>
          <a:prstGeom prst="roundRect">
            <a:avLst>
              <a:gd name="adj" fmla="val 90952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06149" y="3588883"/>
            <a:ext cx="251341" cy="25134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150741" y="3489466"/>
            <a:ext cx="2145625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Cleaning Visit Columns</a:t>
            </a: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3150741" y="3836414"/>
            <a:ext cx="8511172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Commas and spaces were systematically removed from the visit count columns, preparing them for numerical operations.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3694527" y="5025076"/>
            <a:ext cx="167521" cy="966549"/>
          </a:xfrm>
          <a:prstGeom prst="roundRect">
            <a:avLst>
              <a:gd name="adj" fmla="val 42011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527006" y="4915063"/>
            <a:ext cx="502682" cy="502682"/>
          </a:xfrm>
          <a:prstGeom prst="roundRect">
            <a:avLst>
              <a:gd name="adj" fmla="val 90952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52617" y="5040674"/>
            <a:ext cx="251341" cy="25134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197208" y="4941256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Numeric Conversion</a:t>
            </a: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4197208" y="5288204"/>
            <a:ext cx="8776670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All visit data was then converted into a numeric format, crucial for quantitative analysis and model input.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595229" y="6437111"/>
            <a:ext cx="167521" cy="966549"/>
          </a:xfrm>
          <a:prstGeom prst="roundRect">
            <a:avLst>
              <a:gd name="adj" fmla="val 42011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427708" y="6327097"/>
            <a:ext cx="502682" cy="502682"/>
          </a:xfrm>
          <a:prstGeom prst="roundRect">
            <a:avLst>
              <a:gd name="adj" fmla="val 90952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53319" y="6452708"/>
            <a:ext cx="251341" cy="25134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97910" y="6353291"/>
            <a:ext cx="2358033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Missing Value Imputation</a:t>
            </a: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5097910" y="6700239"/>
            <a:ext cx="8776670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Missing values were addressed using a forward fill method, ensuring continuity in the time series data.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99836" y="808374"/>
            <a:ext cx="9630728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Exploratory Data Analysis: Unveiling Traffic Patterns</a:t>
            </a:r>
            <a:endParaRPr lang="en-US" sz="31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6755" y="1634966"/>
            <a:ext cx="6211809" cy="485623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27250" y="1886757"/>
            <a:ext cx="6273046" cy="1300282"/>
          </a:xfrm>
          <a:prstGeom prst="roundRect">
            <a:avLst>
              <a:gd name="adj" fmla="val 5413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02391" y="2061898"/>
            <a:ext cx="23167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Daily Traffic Visualization</a:t>
            </a:r>
            <a:endParaRPr lang="en-US" sz="1550" b="1" dirty="0"/>
          </a:p>
        </p:txBody>
      </p:sp>
      <p:sp>
        <p:nvSpPr>
          <p:cNvPr id="6" name="Text 3"/>
          <p:cNvSpPr/>
          <p:nvPr/>
        </p:nvSpPr>
        <p:spPr>
          <a:xfrm>
            <a:off x="7877532" y="2479688"/>
            <a:ext cx="5922764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David" panose="020E0502060401010101" pitchFamily="34" charset="-79"/>
                <a:ea typeface="Funnel Sans" pitchFamily="34" charset="-122"/>
                <a:cs typeface="David" panose="020E0502060401010101" pitchFamily="34" charset="-79"/>
              </a:rPr>
              <a:t>Visualized daily traffic trends for all visit types, providing an initial understanding of data behavior.</a:t>
            </a:r>
            <a:endParaRPr lang="en-US" sz="16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527250" y="3656994"/>
            <a:ext cx="6273046" cy="2834206"/>
          </a:xfrm>
          <a:prstGeom prst="roundRect">
            <a:avLst>
              <a:gd name="adj" fmla="val 5413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02391" y="3656994"/>
            <a:ext cx="5922764" cy="270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7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Website traffic shows clear seasonal patterns over time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Unique and First-Time visits drive major traffic spikes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Returning visits are stable but comparatively low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Indicates strong user acquisition but weaker retention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Traffic patterns justify the need for forecasting models for planning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7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147AA-5BE4-49DD-07EC-2E5500513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73DE18-0D6D-67B0-A4EF-752EADF66F2F}"/>
              </a:ext>
            </a:extLst>
          </p:cNvPr>
          <p:cNvSpPr/>
          <p:nvPr/>
        </p:nvSpPr>
        <p:spPr>
          <a:xfrm>
            <a:off x="2499836" y="769090"/>
            <a:ext cx="9630728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Exploratory Data Analysis: Unveiling Traffic Patterns</a:t>
            </a:r>
            <a:endParaRPr lang="en-US" sz="310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B6065E23-2A92-0438-6671-DBB8A04987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2634" y="1539506"/>
            <a:ext cx="6312741" cy="5150587"/>
          </a:xfrm>
          <a:prstGeom prst="rect">
            <a:avLst/>
          </a:prstGeom>
        </p:spPr>
      </p:pic>
      <p:sp>
        <p:nvSpPr>
          <p:cNvPr id="16" name="Shape 1">
            <a:extLst>
              <a:ext uri="{FF2B5EF4-FFF2-40B4-BE49-F238E27FC236}">
                <a16:creationId xmlns:a16="http://schemas.microsoft.com/office/drawing/2014/main" id="{52DADDC9-84D1-B5CF-CDEA-309320A87182}"/>
              </a:ext>
            </a:extLst>
          </p:cNvPr>
          <p:cNvSpPr/>
          <p:nvPr/>
        </p:nvSpPr>
        <p:spPr>
          <a:xfrm>
            <a:off x="7527250" y="1873502"/>
            <a:ext cx="6273046" cy="1300282"/>
          </a:xfrm>
          <a:prstGeom prst="roundRect">
            <a:avLst>
              <a:gd name="adj" fmla="val 5413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940134B5-605E-2A4A-E7FC-2A9BD1A9565E}"/>
              </a:ext>
            </a:extLst>
          </p:cNvPr>
          <p:cNvSpPr/>
          <p:nvPr/>
        </p:nvSpPr>
        <p:spPr>
          <a:xfrm>
            <a:off x="7702390" y="2048643"/>
            <a:ext cx="3880009" cy="285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IN" b="1" dirty="0"/>
              <a:t>Monthly User Acquisition vs Retention</a:t>
            </a:r>
            <a:endParaRPr lang="en-US" sz="1550" b="1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68E07E28-D7EB-9494-EC2E-EF1CFBC8AA66}"/>
              </a:ext>
            </a:extLst>
          </p:cNvPr>
          <p:cNvSpPr/>
          <p:nvPr/>
        </p:nvSpPr>
        <p:spPr>
          <a:xfrm>
            <a:off x="7843408" y="2396598"/>
            <a:ext cx="5922764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IN" dirty="0"/>
              <a:t>The website successfully attracts new users, but converting them into returning users remains a key growth opportunity.</a:t>
            </a:r>
            <a:endParaRPr lang="en-US" sz="16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25388D5B-A50A-326B-6819-90EF2F9B8EF6}"/>
              </a:ext>
            </a:extLst>
          </p:cNvPr>
          <p:cNvSpPr/>
          <p:nvPr/>
        </p:nvSpPr>
        <p:spPr>
          <a:xfrm>
            <a:off x="7527250" y="3656994"/>
            <a:ext cx="6273046" cy="2834206"/>
          </a:xfrm>
          <a:prstGeom prst="roundRect">
            <a:avLst>
              <a:gd name="adj" fmla="val 5413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D2930512-6573-DA65-3370-DD9FD809E6EF}"/>
              </a:ext>
            </a:extLst>
          </p:cNvPr>
          <p:cNvSpPr/>
          <p:nvPr/>
        </p:nvSpPr>
        <p:spPr>
          <a:xfrm>
            <a:off x="7655657" y="3356241"/>
            <a:ext cx="5922764" cy="306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7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First-Time Visits are consistently higher than Returning Visits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Acquisition shows strong monthly seasonality with clear peaks and drops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Returning Visits are more stable but significantly lower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Indicates effective user acquisition but weaker retention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Highlights an opportunity to improve user loyalty and repeat engagement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7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85156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85273" y="771571"/>
            <a:ext cx="10039826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Time Series Modelling: ARIMA for Temporal Patterns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1182634" y="1409567"/>
            <a:ext cx="12265131" cy="55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AutoRegressive Integrated Moving Average (ARIMA) model was selected for its proven ability to capture intricate temporal dependencies and trends in time series data.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1631626" y="2232870"/>
            <a:ext cx="10547120" cy="1640681"/>
          </a:xfrm>
          <a:prstGeom prst="roundRect">
            <a:avLst>
              <a:gd name="adj" fmla="val 6688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608766" y="2232870"/>
            <a:ext cx="91440" cy="1640681"/>
          </a:xfrm>
          <a:prstGeom prst="roundRect">
            <a:avLst>
              <a:gd name="adj" fmla="val 79025"/>
            </a:avLst>
          </a:prstGeom>
          <a:solidFill>
            <a:srgbClr val="3371A5"/>
          </a:solidFill>
          <a:ln/>
        </p:spPr>
      </p:sp>
      <p:sp>
        <p:nvSpPr>
          <p:cNvPr id="7" name="Text 4"/>
          <p:cNvSpPr/>
          <p:nvPr/>
        </p:nvSpPr>
        <p:spPr>
          <a:xfrm>
            <a:off x="1895111" y="2427775"/>
            <a:ext cx="2484477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00" b="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Temporal Pattern Capture</a:t>
            </a:r>
            <a:endParaRPr lang="en-US" sz="1700" b="1" dirty="0"/>
          </a:p>
        </p:txBody>
      </p:sp>
      <p:sp>
        <p:nvSpPr>
          <p:cNvPr id="8" name="Text 5"/>
          <p:cNvSpPr/>
          <p:nvPr/>
        </p:nvSpPr>
        <p:spPr>
          <a:xfrm>
            <a:off x="2014379" y="2866080"/>
            <a:ext cx="10072926" cy="825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ARIMA was specifically used to model and forecast based on historical Unique Visits data, leveraging its strength in identifying patterns over time.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631626" y="4045596"/>
            <a:ext cx="10547120" cy="1640681"/>
          </a:xfrm>
          <a:prstGeom prst="roundRect">
            <a:avLst>
              <a:gd name="adj" fmla="val 6688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8766" y="4045596"/>
            <a:ext cx="91440" cy="1640681"/>
          </a:xfrm>
          <a:prstGeom prst="roundRect">
            <a:avLst>
              <a:gd name="adj" fmla="val 79025"/>
            </a:avLst>
          </a:prstGeom>
          <a:solidFill>
            <a:srgbClr val="3371A5"/>
          </a:solidFill>
          <a:ln/>
        </p:spPr>
      </p:sp>
      <p:sp>
        <p:nvSpPr>
          <p:cNvPr id="11" name="Text 8"/>
          <p:cNvSpPr/>
          <p:nvPr/>
        </p:nvSpPr>
        <p:spPr>
          <a:xfrm>
            <a:off x="1895111" y="4240501"/>
            <a:ext cx="2624376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00" b="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Baseline Forecasting Model</a:t>
            </a:r>
            <a:endParaRPr lang="en-US" sz="1700" b="1" dirty="0"/>
          </a:p>
        </p:txBody>
      </p:sp>
      <p:sp>
        <p:nvSpPr>
          <p:cNvPr id="12" name="Text 9"/>
          <p:cNvSpPr/>
          <p:nvPr/>
        </p:nvSpPr>
        <p:spPr>
          <a:xfrm>
            <a:off x="2014379" y="4728480"/>
            <a:ext cx="9953658" cy="825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model served as our foundational statistical forecast, providing a robust benchmark for subsequent machine learning models.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1631626" y="5858323"/>
            <a:ext cx="10547120" cy="1365409"/>
          </a:xfrm>
          <a:prstGeom prst="roundRect">
            <a:avLst>
              <a:gd name="adj" fmla="val 8036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08766" y="5858323"/>
            <a:ext cx="91440" cy="1365409"/>
          </a:xfrm>
          <a:prstGeom prst="roundRect">
            <a:avLst>
              <a:gd name="adj" fmla="val 79025"/>
            </a:avLst>
          </a:prstGeom>
          <a:solidFill>
            <a:srgbClr val="3371A5"/>
          </a:solidFill>
          <a:ln/>
        </p:spPr>
      </p:sp>
      <p:sp>
        <p:nvSpPr>
          <p:cNvPr id="15" name="Text 12"/>
          <p:cNvSpPr/>
          <p:nvPr/>
        </p:nvSpPr>
        <p:spPr>
          <a:xfrm>
            <a:off x="1895111" y="6053228"/>
            <a:ext cx="2635448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00" b="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Short-Term Trend Efficiency</a:t>
            </a:r>
            <a:endParaRPr lang="en-US" sz="1700" b="1" dirty="0"/>
          </a:p>
        </p:txBody>
      </p:sp>
      <p:sp>
        <p:nvSpPr>
          <p:cNvPr id="16" name="Text 13"/>
          <p:cNvSpPr/>
          <p:nvPr/>
        </p:nvSpPr>
        <p:spPr>
          <a:xfrm>
            <a:off x="2014379" y="6522228"/>
            <a:ext cx="9925828" cy="55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ARIMA proved particularly effective for short-term, trend-based forecasting, offering reliable immediate future predictions.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633916" y="781051"/>
            <a:ext cx="9362568" cy="672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Feature Engineering for Machine Learning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2317523" y="1748848"/>
            <a:ext cx="10204174" cy="51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 empower machine learning models, raw date information was transformed into a rich set of predictive features.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861" y="2677710"/>
            <a:ext cx="989767" cy="12411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90509" y="2677710"/>
            <a:ext cx="2329101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Time-Based Features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5090509" y="3087523"/>
            <a:ext cx="7313526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Key components such as day of the week, month, and year were extracted to provide granular temporal context.</a:t>
            </a:r>
            <a:endParaRPr lang="en-US" sz="1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2861" y="4116700"/>
            <a:ext cx="989767" cy="12411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90509" y="4116700"/>
            <a:ext cx="3567946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Supervised Learning Conversion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5090508" y="4526513"/>
            <a:ext cx="7525561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time series problem was expertly reframed into a supervised learning task, making it accessible for a wider array of ML algorithms.</a:t>
            </a:r>
            <a:endParaRPr lang="en-US" sz="1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2861" y="5555689"/>
            <a:ext cx="989767" cy="12411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090509" y="5555689"/>
            <a:ext cx="2907744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Calendar Pattern Learning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5090509" y="5965502"/>
            <a:ext cx="7313526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feature engineering enabled ML models to effectively learn and leverage recurring calendar-based patterns and cyclical trends.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8705" y="867846"/>
            <a:ext cx="6762155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Advanced Machine Learning Models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1712367" y="1722954"/>
            <a:ext cx="11212458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&gt;</a:t>
            </a: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Beyond traditional time series, we deployed sophisticated machine learning models to capture complex, non-linear relationships in the traffic data.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496377" y="2773084"/>
            <a:ext cx="243232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1) Random Forest Regressor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496377" y="3120033"/>
            <a:ext cx="11212458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ensemble model was chosen for its ability to handle non-linear patterns and interactions within the dataset, providing robust predictions.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496377" y="4170164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2) Xgboost Regressor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1496377" y="4517112"/>
            <a:ext cx="11954580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XGBoost, a highly efficient gradient boosting framework, was employed for its superior accuracy and enhanced robustness against overfitting, further strengthening our predictive capabilities.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1496377" y="5914191"/>
            <a:ext cx="247923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3) Complementary Strengths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1496377" y="6261139"/>
            <a:ext cx="11331727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These ML models complemented the ARIMA baseline by learning complex, non-linear relationships and interactions that simpler models might miss.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5579" y="754499"/>
            <a:ext cx="8219242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Hyperparameter Tuning: Optimizing Random Forest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5579" y="1536534"/>
            <a:ext cx="8836964" cy="618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 achieve peak performance and prevent overfitting, meticulous hyperparameter 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tuning was conducted, specifically for the Random Forest Regressor.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10225" y="2453249"/>
            <a:ext cx="7413152" cy="1320879"/>
          </a:xfrm>
          <a:prstGeom prst="roundRect">
            <a:avLst>
              <a:gd name="adj" fmla="val 5538"/>
            </a:avLst>
          </a:prstGeom>
          <a:solidFill>
            <a:srgbClr val="FAF5EB"/>
          </a:solidFill>
          <a:ln/>
        </p:spPr>
      </p:sp>
      <p:sp>
        <p:nvSpPr>
          <p:cNvPr id="5" name="Shape 3"/>
          <p:cNvSpPr/>
          <p:nvPr/>
        </p:nvSpPr>
        <p:spPr>
          <a:xfrm>
            <a:off x="4010225" y="2438009"/>
            <a:ext cx="7413152" cy="60959"/>
          </a:xfrm>
          <a:prstGeom prst="roundRect">
            <a:avLst>
              <a:gd name="adj" fmla="val 98132"/>
            </a:avLst>
          </a:prstGeom>
          <a:solidFill>
            <a:srgbClr val="3371A5"/>
          </a:solidFill>
          <a:ln/>
        </p:spPr>
      </p:sp>
      <p:sp>
        <p:nvSpPr>
          <p:cNvPr id="6" name="Shape 4"/>
          <p:cNvSpPr/>
          <p:nvPr/>
        </p:nvSpPr>
        <p:spPr>
          <a:xfrm>
            <a:off x="7450224" y="2253819"/>
            <a:ext cx="427196" cy="427196"/>
          </a:xfrm>
          <a:prstGeom prst="roundRect">
            <a:avLst>
              <a:gd name="adj" fmla="val 214047"/>
            </a:avLst>
          </a:prstGeom>
          <a:solidFill>
            <a:srgbClr val="3371A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5771" y="2367762"/>
            <a:ext cx="170855" cy="17085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67863" y="2809246"/>
            <a:ext cx="2052757" cy="20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GridSearchCV Application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167863" y="3160956"/>
            <a:ext cx="7044926" cy="455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 utilized GridSearchCV to systematically explore a predefined grid of hyperparameter values, ensuring optimal model configuration.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010225" y="4130125"/>
            <a:ext cx="7413152" cy="1320879"/>
          </a:xfrm>
          <a:prstGeom prst="roundRect">
            <a:avLst>
              <a:gd name="adj" fmla="val 5538"/>
            </a:avLst>
          </a:prstGeom>
          <a:solidFill>
            <a:srgbClr val="FAF5EB"/>
          </a:solidFill>
          <a:ln/>
        </p:spPr>
      </p:sp>
      <p:sp>
        <p:nvSpPr>
          <p:cNvPr id="11" name="Shape 8"/>
          <p:cNvSpPr/>
          <p:nvPr/>
        </p:nvSpPr>
        <p:spPr>
          <a:xfrm>
            <a:off x="4010225" y="4114885"/>
            <a:ext cx="7413152" cy="45719"/>
          </a:xfrm>
          <a:prstGeom prst="roundRect">
            <a:avLst>
              <a:gd name="adj" fmla="val 98132"/>
            </a:avLst>
          </a:prstGeom>
          <a:solidFill>
            <a:srgbClr val="3371A5"/>
          </a:solidFill>
          <a:ln/>
        </p:spPr>
      </p:sp>
      <p:sp>
        <p:nvSpPr>
          <p:cNvPr id="12" name="Shape 9"/>
          <p:cNvSpPr/>
          <p:nvPr/>
        </p:nvSpPr>
        <p:spPr>
          <a:xfrm>
            <a:off x="7510669" y="3916527"/>
            <a:ext cx="427196" cy="427196"/>
          </a:xfrm>
          <a:prstGeom prst="roundRect">
            <a:avLst>
              <a:gd name="adj" fmla="val 214047"/>
            </a:avLst>
          </a:prstGeom>
          <a:solidFill>
            <a:srgbClr val="3371A5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38780" y="4044638"/>
            <a:ext cx="170855" cy="17085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67863" y="4486122"/>
            <a:ext cx="1749862" cy="20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Parameter Tuning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167862" y="4837833"/>
            <a:ext cx="7044927" cy="455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Specific parameters such as the number of trees in the forest and the maximum depth of each tree were fine-tuned.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4010225" y="5807001"/>
            <a:ext cx="7413152" cy="1320879"/>
          </a:xfrm>
          <a:prstGeom prst="roundRect">
            <a:avLst>
              <a:gd name="adj" fmla="val 5538"/>
            </a:avLst>
          </a:prstGeom>
          <a:solidFill>
            <a:srgbClr val="FAF5EB"/>
          </a:solidFill>
          <a:ln/>
        </p:spPr>
      </p:sp>
      <p:sp>
        <p:nvSpPr>
          <p:cNvPr id="17" name="Shape 13"/>
          <p:cNvSpPr/>
          <p:nvPr/>
        </p:nvSpPr>
        <p:spPr>
          <a:xfrm>
            <a:off x="4010225" y="5807001"/>
            <a:ext cx="7413152" cy="45720"/>
          </a:xfrm>
          <a:prstGeom prst="roundRect">
            <a:avLst>
              <a:gd name="adj" fmla="val 98132"/>
            </a:avLst>
          </a:prstGeom>
          <a:solidFill>
            <a:srgbClr val="3371A5"/>
          </a:solidFill>
          <a:ln/>
        </p:spPr>
      </p:sp>
      <p:sp>
        <p:nvSpPr>
          <p:cNvPr id="18" name="Shape 14"/>
          <p:cNvSpPr/>
          <p:nvPr/>
        </p:nvSpPr>
        <p:spPr>
          <a:xfrm>
            <a:off x="7563677" y="5593403"/>
            <a:ext cx="427196" cy="427196"/>
          </a:xfrm>
          <a:prstGeom prst="roundRect">
            <a:avLst>
              <a:gd name="adj" fmla="val 214047"/>
            </a:avLst>
          </a:prstGeom>
          <a:solidFill>
            <a:srgbClr val="3371A5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91788" y="5721514"/>
            <a:ext cx="170855" cy="17085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167863" y="6162998"/>
            <a:ext cx="2183963" cy="20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Performance Enhancement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4167863" y="6514709"/>
            <a:ext cx="7413152" cy="455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tuning process significantly improved the model's predictive accuracy and generalized better to unseen data, reducing the risk of overfitting.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46202" y="1016794"/>
            <a:ext cx="7516654" cy="1094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Model Evaluation: Quantifying Forecast Accuracy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813673" y="2456498"/>
            <a:ext cx="7516654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Rigorous evaluation is critical to ascertain the reliability and effectiveness of our forecasting models. We focused on key metrics to provide a comprehensive assessment.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813673" y="3260765"/>
            <a:ext cx="7516654" cy="3885486"/>
          </a:xfrm>
          <a:prstGeom prst="roundRect">
            <a:avLst>
              <a:gd name="adj" fmla="val 2010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1293" y="3268385"/>
            <a:ext cx="3750707" cy="2518172"/>
          </a:xfrm>
          <a:prstGeom prst="roundRect">
            <a:avLst>
              <a:gd name="adj" fmla="val 3102"/>
            </a:avLst>
          </a:prstGeom>
          <a:solidFill>
            <a:srgbClr val="FAF5EB"/>
          </a:solidFill>
          <a:ln/>
        </p:spPr>
      </p:sp>
      <p:sp>
        <p:nvSpPr>
          <p:cNvPr id="7" name="Text 4"/>
          <p:cNvSpPr/>
          <p:nvPr/>
        </p:nvSpPr>
        <p:spPr>
          <a:xfrm>
            <a:off x="1007269" y="3454360"/>
            <a:ext cx="3099792" cy="546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RMSE: Prediction Error Magnitude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7269" y="4112895"/>
            <a:ext cx="3099792" cy="148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Root Mean Squared Error (RMSE) was used to measure the average magnitude of the prediction errors, providing a clear understanding of absolute error.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572000" y="3268385"/>
            <a:ext cx="3750707" cy="2518172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3268385"/>
            <a:ext cx="22860" cy="2518172"/>
          </a:xfrm>
          <a:prstGeom prst="roundRect">
            <a:avLst>
              <a:gd name="adj" fmla="val 341721"/>
            </a:avLst>
          </a:prstGeom>
          <a:solidFill>
            <a:srgbClr val="D5CDBE"/>
          </a:solidFill>
          <a:ln/>
        </p:spPr>
      </p:sp>
      <p:sp>
        <p:nvSpPr>
          <p:cNvPr id="11" name="Text 8"/>
          <p:cNvSpPr/>
          <p:nvPr/>
        </p:nvSpPr>
        <p:spPr>
          <a:xfrm>
            <a:off x="5036939" y="3454360"/>
            <a:ext cx="3099792" cy="546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MAPE: Percentage-Based Error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036939" y="4112895"/>
            <a:ext cx="3099792" cy="148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Mean Absolute Percentage Error (MAPE) offered an interpretable percentage-based error, making it easier to communicate performance relative to the actual values.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4339590" y="4295001"/>
            <a:ext cx="464939" cy="464939"/>
          </a:xfrm>
          <a:prstGeom prst="roundRect">
            <a:avLst>
              <a:gd name="adj" fmla="val 16802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5795" y="4411206"/>
            <a:ext cx="232410" cy="23241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21293" y="5786557"/>
            <a:ext cx="7501414" cy="1352074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6" name="Shape 12"/>
          <p:cNvSpPr/>
          <p:nvPr/>
        </p:nvSpPr>
        <p:spPr>
          <a:xfrm>
            <a:off x="821293" y="5786557"/>
            <a:ext cx="7501414" cy="22860"/>
          </a:xfrm>
          <a:prstGeom prst="roundRect">
            <a:avLst>
              <a:gd name="adj" fmla="val 341721"/>
            </a:avLst>
          </a:prstGeom>
          <a:solidFill>
            <a:srgbClr val="D5CDBE"/>
          </a:solidFill>
          <a:ln/>
        </p:spPr>
      </p:sp>
      <p:sp>
        <p:nvSpPr>
          <p:cNvPr id="17" name="Text 13"/>
          <p:cNvSpPr/>
          <p:nvPr/>
        </p:nvSpPr>
        <p:spPr>
          <a:xfrm>
            <a:off x="1007269" y="5972532"/>
            <a:ext cx="2188131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Model Comparison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1007269" y="6357580"/>
            <a:ext cx="6850499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direct comparison of ARIMA, Random Forest, and XGBoost using these metrics allowed for an objective assessment of each model's strengths and weaknesses.</a:t>
            </a:r>
            <a:endParaRPr lang="en-US" sz="1450" dirty="0"/>
          </a:p>
        </p:txBody>
      </p:sp>
      <p:pic>
        <p:nvPicPr>
          <p:cNvPr id="20" name="Picture 19" descr="A graph of blue rectangular objects&#10;&#10;AI-generated content may be incorrect.">
            <a:extLst>
              <a:ext uri="{FF2B5EF4-FFF2-40B4-BE49-F238E27FC236}">
                <a16:creationId xmlns:a16="http://schemas.microsoft.com/office/drawing/2014/main" id="{B9692736-C014-5BDF-CB4C-4538B13D3E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2737" y="1832331"/>
            <a:ext cx="5219700" cy="53062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44030" y="865227"/>
            <a:ext cx="6342340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Visualization &amp; Model Comparison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675448" y="1592856"/>
            <a:ext cx="1295495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Bringing all the insights together, visual comparisons provided a clear picture of our models' performance against actual traffic, aiding in final model selection.</a:t>
            </a:r>
            <a:endParaRPr lang="en-US" sz="130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0640" y="2196324"/>
            <a:ext cx="6159424" cy="478611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27250" y="2239328"/>
            <a:ext cx="376952" cy="376952"/>
          </a:xfrm>
          <a:prstGeom prst="roundRect">
            <a:avLst>
              <a:gd name="adj" fmla="val 18670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97497" y="2279987"/>
            <a:ext cx="236458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071723" y="2296835"/>
            <a:ext cx="2609255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Actual vs. Forecasted Traffic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71723" y="2710815"/>
            <a:ext cx="5728573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Visualizations clearly depicted how well each model's predictions aligned with the actual daily website traffic.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527250" y="3581876"/>
            <a:ext cx="376952" cy="376952"/>
          </a:xfrm>
          <a:prstGeom prst="roundRect">
            <a:avLst>
              <a:gd name="adj" fmla="val 18670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97497" y="3622536"/>
            <a:ext cx="236458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071723" y="3639383"/>
            <a:ext cx="3501985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Comprehensive Forecast Comparison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071723" y="4053364"/>
            <a:ext cx="5728573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Forecasts from ARIMA, Random Forest, and XGBoost were laid out side-by-side, enabling a holistic view of their predictive capabilities.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527250" y="4924425"/>
            <a:ext cx="376952" cy="376952"/>
          </a:xfrm>
          <a:prstGeom prst="roundRect">
            <a:avLst>
              <a:gd name="adj" fmla="val 18670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97497" y="4965085"/>
            <a:ext cx="236458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071723" y="4981932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RMSE for Clarity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071723" y="5395913"/>
            <a:ext cx="5728573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comparative display of RMSE values offered an immediate and easy-to-understand quantitative measure of each model's accuracy.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527250" y="6266974"/>
            <a:ext cx="376952" cy="376952"/>
          </a:xfrm>
          <a:prstGeom prst="roundRect">
            <a:avLst>
              <a:gd name="adj" fmla="val 18670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97497" y="6307634"/>
            <a:ext cx="236458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4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8071723" y="6324481"/>
            <a:ext cx="3427690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Best-Performing Model Identification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8071723" y="6738461"/>
            <a:ext cx="5728573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These visualizations were pivotal in identifying the single best-performing model for our website traffic forecasting needs.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22251-8A8E-46E7-A8BA-2F15E00CC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44E143-7E27-ED70-9537-01646CF2B4C9}"/>
              </a:ext>
            </a:extLst>
          </p:cNvPr>
          <p:cNvSpPr/>
          <p:nvPr/>
        </p:nvSpPr>
        <p:spPr>
          <a:xfrm>
            <a:off x="837724" y="1243722"/>
            <a:ext cx="6342340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Final Conclusion:</a:t>
            </a:r>
            <a:endParaRPr lang="en-US" sz="3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75C2EA9-6741-BA22-DA38-24158AD647A4}"/>
              </a:ext>
            </a:extLst>
          </p:cNvPr>
          <p:cNvSpPr/>
          <p:nvPr/>
        </p:nvSpPr>
        <p:spPr>
          <a:xfrm>
            <a:off x="1760715" y="2627897"/>
            <a:ext cx="11108970" cy="297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IN" sz="2000" dirty="0"/>
              <a:t>This project successfully developed a hybrid website traffic forecasting system by combining time series and machine learning models.</a:t>
            </a:r>
          </a:p>
          <a:p>
            <a:pPr marL="285750" indent="-28575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IN" sz="2000" dirty="0"/>
              <a:t>Proper data preprocessing and feature engineering ensured a clean time series structure. ARIMA was used as a baseline model to capture historical trends, while machine learning models like Random Forest and Xgboost captured non-linear and calendar-based patterns.</a:t>
            </a:r>
          </a:p>
          <a:p>
            <a:pPr marL="285750" indent="-28575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IN" sz="2000" dirty="0"/>
              <a:t>Model performance was evaluated using RMSE and MAPE, and machine learning models showed better accuracy compared to the traditional time series approach.</a:t>
            </a:r>
          </a:p>
          <a:p>
            <a:pPr marL="285750" indent="-28575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IN" sz="2000" dirty="0"/>
              <a:t>Overall, the hybrid modelling approach improved forecast reliability and provided actionable insights for business planning, resource optimization, and marketing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840059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50E963-020B-177C-D09C-747533205585}"/>
              </a:ext>
            </a:extLst>
          </p:cNvPr>
          <p:cNvSpPr txBox="1"/>
          <p:nvPr/>
        </p:nvSpPr>
        <p:spPr>
          <a:xfrm>
            <a:off x="4403537" y="3299192"/>
            <a:ext cx="582332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dirty="0"/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41290691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75</TotalTime>
  <Words>1141</Words>
  <Application>Microsoft Macintosh PowerPoint</Application>
  <PresentationFormat>Custom</PresentationFormat>
  <Paragraphs>113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Funnel Display</vt:lpstr>
      <vt:lpstr>Garamond</vt:lpstr>
      <vt:lpstr>Funnel Sans</vt:lpstr>
      <vt:lpstr>David</vt:lpstr>
      <vt:lpstr>Arial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DHAYANANTH J</cp:lastModifiedBy>
  <cp:revision>12</cp:revision>
  <dcterms:created xsi:type="dcterms:W3CDTF">2025-12-15T16:07:39Z</dcterms:created>
  <dcterms:modified xsi:type="dcterms:W3CDTF">2025-12-15T17:25:02Z</dcterms:modified>
</cp:coreProperties>
</file>